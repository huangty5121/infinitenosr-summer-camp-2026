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24384000" cy="13716000"/>
  <p:notesSz cx="13716000" cy="24384000"/>
  <p:embeddedFontLst>
    <p:embeddedFont>
      <p:font typeface="Liter" charset="-122" pitchFamily="34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2540000"/>
            <a:ext cx="2032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编程入门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第二节</a:t>
            </a:r>
            <a:endParaRPr lang="en-US" sz="9870" dirty="0"/>
          </a:p>
        </p:txBody>
      </p:sp>
      <p:sp>
        <p:nvSpPr>
          <p:cNvPr id="3" name="Text 1"/>
          <p:cNvSpPr/>
          <p:nvPr/>
        </p:nvSpPr>
        <p:spPr>
          <a:xfrm>
            <a:off x="1249680" y="6096000"/>
            <a:ext cx="177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 CPU 到 GPU：一段最小 CUDA 程序的完整旅程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249680" y="7366000"/>
            <a:ext cx="2540000" cy="762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9680" y="7874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InfiniTensor 大模型与人工智能系统训练营 2025 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606000" y="1270000"/>
            <a:ext cx="1270000" cy="1270000"/>
          </a:xfrm>
          <a:prstGeom prst="ellipse">
            <a:avLst/>
          </a:prstGeom>
          <a:solidFill>
            <a:srgbClr val="7EC0DA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3241000" y="3048000"/>
            <a:ext cx="762000" cy="762000"/>
          </a:xfrm>
          <a:prstGeom prst="ellipse">
            <a:avLst/>
          </a:prstGeom>
          <a:solidFill>
            <a:srgbClr val="7EC0DA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3622000" y="4318000"/>
            <a:ext cx="508000" cy="508000"/>
          </a:xfrm>
          <a:prstGeom prst="ellipse">
            <a:avLst/>
          </a:prstGeom>
          <a:solidFill>
            <a:srgbClr val="7EC0DA">
              <a:alpha val="35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016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内容概览</a:t>
            </a:r>
            <a:endParaRPr lang="en-US" sz="9870" dirty="0"/>
          </a:p>
        </p:txBody>
      </p:sp>
      <p:sp>
        <p:nvSpPr>
          <p:cNvPr id="3" name="Shape 1"/>
          <p:cNvSpPr/>
          <p:nvPr/>
        </p:nvSpPr>
        <p:spPr>
          <a:xfrm>
            <a:off x="1249680" y="2667000"/>
            <a:ext cx="1524000" cy="63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3556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556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前情提要与本节目标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9680" y="4699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4699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/ Device 与 CUDA 运行流程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9680" y="584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5842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加法到 GPU 加法的完整代码迁移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46000" y="3556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487400" y="3556000"/>
            <a:ext cx="952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线程层级结构与核函数执行模型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46000" y="4699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87400" y="4699000"/>
            <a:ext cx="952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编译流程与架构选项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46000" y="584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487400" y="5842000"/>
            <a:ext cx="952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运行验证、性能与调试入口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9680" y="7620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249680" y="8128000"/>
            <a:ext cx="152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围绕同一组源码，把代码、线程层级、编译、运行、性能和工具串成一条稳定的教学链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3556000"/>
            <a:ext cx="762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5334000"/>
            <a:ext cx="1270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前情提要与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本节目标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1249680" y="8890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从概念进入代码：一段最小 CUDA 程序，到底怎样从 CPU 到 GPU 再回到 CPU？</a:t>
            </a:r>
            <a:endParaRPr lang="en-US" sz="3730" dirty="0"/>
          </a:p>
        </p:txBody>
      </p:sp>
      <p:sp>
        <p:nvSpPr>
          <p:cNvPr id="5" name="Shape 3"/>
          <p:cNvSpPr/>
          <p:nvPr/>
        </p:nvSpPr>
        <p:spPr>
          <a:xfrm>
            <a:off x="1249680" y="8636000"/>
            <a:ext cx="2032000" cy="63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Shape 4"/>
          <p:cNvSpPr/>
          <p:nvPr/>
        </p:nvSpPr>
        <p:spPr>
          <a:xfrm>
            <a:off x="17780000" y="2540000"/>
            <a:ext cx="5334000" cy="8890000"/>
          </a:xfrm>
          <a:prstGeom prst="rect">
            <a:avLst/>
          </a:prstGeom>
          <a:solidFill>
            <a:srgbClr val="7EC0DA">
              <a:alpha val="8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上节课铺好了什么，这节课要解决什么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4765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14500" y="2349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上节课已经知道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4500" y="3048000"/>
            <a:ext cx="952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什么是并行（串行 / 并发 / 并行）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CPU / GPU 的基本分工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GPU 硬件直觉：A100 → SM → CUDA Core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CUDA 是什么（SIMT、C/C++ 语法、自动调度）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249680" y="6096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5969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这节课正式进入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14500" y="6667500"/>
            <a:ext cx="952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编程入门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446000" y="24765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2915900" y="2349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这节课的主问题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15900" y="3048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一段最小 CUDA 程序，怎么从 CPU 准备数据，到 GPU 并行算完，再回到 CPU？</a:t>
            </a:r>
            <a:endParaRPr lang="en-US" sz="2930" dirty="0"/>
          </a:p>
        </p:txBody>
      </p:sp>
      <p:sp>
        <p:nvSpPr>
          <p:cNvPr id="13" name="Shape 11"/>
          <p:cNvSpPr/>
          <p:nvPr/>
        </p:nvSpPr>
        <p:spPr>
          <a:xfrm>
            <a:off x="12446000" y="6096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2915900" y="5969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这节课会围绕同一组源码讲清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15900" y="6667500"/>
            <a:ext cx="1016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Host / Device 分工与数据流动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CPU 加法到 GPU 加法的完整迁移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grid / block / thread 线程层级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编译、运行、性能分析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调试工具入口</a:t>
            </a:r>
            <a:endParaRPr lang="en-US" sz="2930" dirty="0"/>
          </a:p>
        </p:txBody>
      </p:sp>
      <p:sp>
        <p:nvSpPr>
          <p:cNvPr id="16" name="Text 14"/>
          <p:cNvSpPr/>
          <p:nvPr/>
        </p:nvSpPr>
        <p:spPr>
          <a:xfrm>
            <a:off x="1249680" y="10922000"/>
            <a:ext cx="152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不以优化为起点，先把一段最小 CUDA 程序看懂、跑通、讲清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3556000"/>
            <a:ext cx="762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5334000"/>
            <a:ext cx="1397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/ Device 与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运行流程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1249680" y="8890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先画清楚运行场景：谁在做什么、数据在哪里、怎么传输</a:t>
            </a:r>
            <a:endParaRPr lang="en-US" sz="3730" dirty="0"/>
          </a:p>
        </p:txBody>
      </p:sp>
      <p:sp>
        <p:nvSpPr>
          <p:cNvPr id="5" name="Shape 3"/>
          <p:cNvSpPr/>
          <p:nvPr/>
        </p:nvSpPr>
        <p:spPr>
          <a:xfrm>
            <a:off x="1249680" y="8636000"/>
            <a:ext cx="2032000" cy="63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Shape 4"/>
          <p:cNvSpPr/>
          <p:nvPr/>
        </p:nvSpPr>
        <p:spPr>
          <a:xfrm>
            <a:off x="17780000" y="2540000"/>
            <a:ext cx="5334000" cy="8890000"/>
          </a:xfrm>
          <a:prstGeom prst="rect">
            <a:avLst/>
          </a:prstGeom>
          <a:solidFill>
            <a:srgbClr val="7EC0DA">
              <a:alpha val="8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和 Device 是谁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540000"/>
            <a:ext cx="2032000" cy="635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9680" y="2540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9680" y="3429000"/>
            <a:ext cx="990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通常指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这一侧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负责控制流程、准备数据、发起 CUDA 调用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对应 main 函数里的大部分逻辑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变量前缀：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（如 h_a, h_b, h_c）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249680" y="6223000"/>
            <a:ext cx="2286000" cy="6350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8" name="Text 6"/>
          <p:cNvSpPr/>
          <p:nvPr/>
        </p:nvSpPr>
        <p:spPr>
          <a:xfrm>
            <a:off x="1249680" y="6223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9680" y="7112000"/>
            <a:ext cx="990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通常指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这一侧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负责真正的大规模并行计算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对应 add_kernel(...) 被很多线程执行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变量前缀：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（如 d_a, d_b, d_c）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446000" y="2540000"/>
            <a:ext cx="10668000" cy="6858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0" y="2794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核心理解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54000" y="3683000"/>
            <a:ext cx="9652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 CUDA 程序同时包含 Host 代码和 Device 代码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程序不是"整段程序扔给 GPU"，而是：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负责组织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 负责并行计算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这边先把事情安排好，再把适合并行的那一部分工作交给 GPU 去做</a:t>
            </a:r>
            <a:endParaRPr lang="en-US" sz="2930" dirty="0"/>
          </a:p>
        </p:txBody>
      </p:sp>
      <p:sp>
        <p:nvSpPr>
          <p:cNvPr id="13" name="Text 11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内存位置与数据传输路径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3980180" y="2653520"/>
            <a:ext cx="6350000" cy="2032000"/>
          </a:xfrm>
          <a:prstGeom prst="rect">
            <a:avLst/>
          </a:prstGeom>
          <a:solidFill>
            <a:srgbClr val="333333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54500" y="2805920"/>
            <a:ext cx="584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Memory / RAM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54500" y="344092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侧常用主存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对应变量：h_a / h_b / h_c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858500" y="3415520"/>
            <a:ext cx="2540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11112500" y="290752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58500" y="366952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CPU-GPU 数据通道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79500" y="2653520"/>
            <a:ext cx="6350000" cy="2032000"/>
          </a:xfrm>
          <a:prstGeom prst="rect">
            <a:avLst/>
          </a:prstGeom>
          <a:solidFill>
            <a:srgbClr val="333333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58900" y="2805920"/>
            <a:ext cx="584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 Memory / Global 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58900" y="344092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侧常用显存区域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对应变量：d_a / d_b / d_c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858500" y="4304520"/>
            <a:ext cx="2540000" cy="0"/>
          </a:xfrm>
          <a:prstGeom prst="straightConnector1">
            <a:avLst/>
          </a:prstGeom>
          <a:noFill/>
          <a:ln w="25400">
            <a:solidFill>
              <a:srgbClr val="AAAAAA"/>
            </a:solidFill>
            <a:prstDash val="sysDot"/>
            <a:headEnd type="arrow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1112500" y="443152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D2H 回传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49680" y="5334000"/>
            <a:ext cx="21610320" cy="2921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5524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6096000"/>
            <a:ext cx="20233441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CPU 端数据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不能默认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被 GPU 直接使用，GPU 算完的结果也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不会自动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回到 CPU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cudaMemcpy(..., cudaMemcpyHostToDevice) 和 cudaMemcpy(..., cudaMemcpyDeviceToHost)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数据本来不在同一个地方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的问题</a:t>
            </a:r>
            <a:endParaRPr lang="en-US" sz="2930" dirty="0"/>
          </a:p>
        </p:txBody>
      </p:sp>
      <p:sp>
        <p:nvSpPr>
          <p:cNvPr id="18" name="Shape 16"/>
          <p:cNvSpPr/>
          <p:nvPr/>
        </p:nvSpPr>
        <p:spPr>
          <a:xfrm>
            <a:off x="1249680" y="9034737"/>
            <a:ext cx="16154400" cy="1968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9161737"/>
            <a:ext cx="1549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H2D: Host → Device（输入数据搬到 GPU）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cudaMemcpy(d_a, h_a.data(), size_bytes, cudaMemcpyHostToDevice);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D2H: Device → Host（结果搬回 CPU）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cudaMemcpy(h_c.data(), d_c, size_bytes, cudaMemcpyDeviceToHost);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程序的完整运行流程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540000"/>
            <a:ext cx="3302000" cy="1270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9680" y="2540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准备数据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73600" y="3048000"/>
            <a:ext cx="762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562600" y="2540000"/>
            <a:ext cx="3302000" cy="1270000"/>
          </a:xfrm>
          <a:prstGeom prst="rect">
            <a:avLst/>
          </a:prstGeom>
          <a:solidFill>
            <a:srgbClr val="5A8FA8"/>
          </a:solidFill>
          <a:ln/>
        </p:spPr>
      </p:sp>
      <p:sp>
        <p:nvSpPr>
          <p:cNvPr id="8" name="Text 6"/>
          <p:cNvSpPr/>
          <p:nvPr/>
        </p:nvSpPr>
        <p:spPr>
          <a:xfrm>
            <a:off x="5562600" y="2540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H2D 传输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91600" y="3048000"/>
            <a:ext cx="762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9880600" y="2540000"/>
            <a:ext cx="3302000" cy="12700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11" name="Text 9"/>
          <p:cNvSpPr/>
          <p:nvPr/>
        </p:nvSpPr>
        <p:spPr>
          <a:xfrm>
            <a:off x="9880600" y="2540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并行计算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309600" y="3048000"/>
            <a:ext cx="762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4198600" y="2540000"/>
            <a:ext cx="3302000" cy="1270000"/>
          </a:xfrm>
          <a:prstGeom prst="rect">
            <a:avLst/>
          </a:prstGeom>
          <a:solidFill>
            <a:srgbClr val="5A8FA8"/>
          </a:solidFill>
          <a:ln/>
        </p:spPr>
      </p:sp>
      <p:sp>
        <p:nvSpPr>
          <p:cNvPr id="14" name="Text 12"/>
          <p:cNvSpPr/>
          <p:nvPr/>
        </p:nvSpPr>
        <p:spPr>
          <a:xfrm>
            <a:off x="14198600" y="2540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写回 GM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627600" y="3048000"/>
            <a:ext cx="762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8516600" y="2540000"/>
            <a:ext cx="3302000" cy="1270000"/>
          </a:xfrm>
          <a:prstGeom prst="rect">
            <a:avLst/>
          </a:prstGeom>
          <a:solidFill>
            <a:srgbClr val="5A8FA8"/>
          </a:solidFill>
          <a:ln/>
        </p:spPr>
      </p:sp>
      <p:sp>
        <p:nvSpPr>
          <p:cNvPr id="17" name="Text 15"/>
          <p:cNvSpPr/>
          <p:nvPr/>
        </p:nvSpPr>
        <p:spPr>
          <a:xfrm>
            <a:off x="18516600" y="2540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D2H 回传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1945600" y="3048000"/>
            <a:ext cx="7620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0568920" y="4064000"/>
            <a:ext cx="3302000" cy="1016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0" y="4064000"/>
            <a:ext cx="330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6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验证+释放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49680" y="444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每一步详解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4540" y="5434039"/>
            <a:ext cx="17780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Host 侧初始化问题规模和输入输出数据 h_a / h_b / h_c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通过 Bus 把 h_* 数据复制到 d_*，cudaMemcpyHostToDevice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通过 kernel launch 让很多线程并行做 c[idx] = a[idx] + b[idx]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各线程把计算结果写回 Device 侧的 Global Memory（d_c）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通过 Bus 把 d_c 结果搬回 h_c，cudaMemcpyDeviceToHost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6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Host 侧验证结果正确性，释放申请过的 GPU 资源</a:t>
            </a:r>
            <a:endParaRPr lang="en-US" sz="2930" dirty="0"/>
          </a:p>
        </p:txBody>
      </p:sp>
      <p:sp>
        <p:nvSpPr>
          <p:cNvPr id="23" name="Shape 21"/>
          <p:cNvSpPr/>
          <p:nvPr/>
        </p:nvSpPr>
        <p:spPr>
          <a:xfrm>
            <a:off x="1249680" y="9906000"/>
            <a:ext cx="17780000" cy="1016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9969500"/>
            <a:ext cx="172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核心链路：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准备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H2D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计算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5A8F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D2H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 algn="ctr">
              <a:lnSpc>
                <a:spcPct val="100000"/>
              </a:lnSpc>
            </a:pPr>
            <a:r>
              <a:rPr lang="en-US" sz="2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验证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3556000"/>
            <a:ext cx="762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5334000"/>
            <a:ext cx="1524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加法到 GPU 加法的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完整代码迁移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1249680" y="8890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先看整体骨架：CPU 基线 vs CUDA 版本，再固定拆成 5 个步骤</a:t>
            </a:r>
            <a:endParaRPr lang="en-US" sz="3730" dirty="0"/>
          </a:p>
        </p:txBody>
      </p:sp>
      <p:sp>
        <p:nvSpPr>
          <p:cNvPr id="5" name="Shape 3"/>
          <p:cNvSpPr/>
          <p:nvPr/>
        </p:nvSpPr>
        <p:spPr>
          <a:xfrm>
            <a:off x="1249680" y="8636000"/>
            <a:ext cx="2032000" cy="63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Shape 4"/>
          <p:cNvSpPr/>
          <p:nvPr/>
        </p:nvSpPr>
        <p:spPr>
          <a:xfrm>
            <a:off x="17780000" y="2540000"/>
            <a:ext cx="5334000" cy="8890000"/>
          </a:xfrm>
          <a:prstGeom prst="rect">
            <a:avLst/>
          </a:prstGeom>
          <a:solidFill>
            <a:srgbClr val="7EC0DA">
              <a:alpha val="8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加法基线：add_cpu.cpp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286000"/>
            <a:ext cx="10795000" cy="673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10287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code/add_cpu.cpp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size_t SIZE =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~1M elements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Initialize data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std::vector&lt;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a(SIZE,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std::vector&lt;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b(SIZE,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std::vector&lt;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c(SIZE,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 the CPU addition function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add_cpu(c, a, b);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CPU addition function (single-threaded)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add_cpu(...) {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(size_t i =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i &lt; a.size(); ++i)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c[i] = a[i] + b[i];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00000" y="228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代码解读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0" y="3048000"/>
            <a:ext cx="1016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 = 1 &lt;&lt; 20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问题规模：约 100 万元素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/ b / c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和 b 是输入，c 是输出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add_cpu(c, a, b)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把"逐个相加"封装成函数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 放前面因为它是被写入的结果容器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循环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一个线程从第 0 个位置开始，逐个走完整个数组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9271000"/>
            <a:ext cx="21590000" cy="1016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9398000"/>
            <a:ext cx="209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基线特征：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数据在 CPU 端，计算在 CPU 端，没有显式数据传输 → 后面 CUDA 版本的所有新增结构都是从这个基线迁移而来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加法完整代码：add_cuda.cu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222500"/>
            <a:ext cx="13335000" cy="673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349500"/>
            <a:ext cx="12954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code/add_cuda.cu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size_t SIZE =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size_t size_bytes = SIZE *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sizeof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std::vector&lt;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h_a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(SIZE,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h_b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(SIZE,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h_c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(SIZE,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d_a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*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d_b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*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d_c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cudaMalloc(&amp;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d_a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size_bytes); cudaMalloc(&amp;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d_b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size_bytes); cudaMalloc(&amp;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d_c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size_bytes);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cudaMemcpy(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d_a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h_a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.data(), size_bytes, cudaMemcpyHostToDevice);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cudaMemcpy(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d_b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h_b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.data(), size_bytes, cudaMemcpyHostToDevice);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dim3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block_dim(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256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dim3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grid_dim((SIZE + block_dim.x -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/ block_dim.x);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add_kernel&lt;&lt;&lt;grid_dim, block_dim&gt;&gt;&gt;(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d_c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d_a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d_b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SIZE);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cudaMemcpy(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h_c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.data(),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d_c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size_bytes, cudaMemcpyDeviceToHost);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cudaFree(d_a); cudaFree(d_b); cudaFree(d_c);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0" y="2222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相比 CPU 版新增结构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240000" y="3111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5621000" y="29845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size_bytes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：按字节计的数据大小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240000" y="3746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5621000" y="36195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h_*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d_*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：Host 和 Device 两侧数据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240000" y="4381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5621000" y="42545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cudaMalloc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：GPU 显存分配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240000" y="5016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5621000" y="48895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cudaMemcpy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：H2D / D2H 数据传输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240000" y="5651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0" y="55245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dim3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&lt;&lt;&lt; &gt;&gt;&gt;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：线程配置与启动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240000" y="6286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15621000" y="61595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add_kernel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：GPU 上执行的核函数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240000" y="6921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5621000" y="67945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cudaFree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：释放显存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49680" y="9398000"/>
            <a:ext cx="21590000" cy="1016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9525000"/>
            <a:ext cx="209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核心任务没变：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还是在算 c[i] = a[i] + b[i]，只是显式处理了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"数据在哪"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和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"谁来算"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程序的五步结构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476500"/>
            <a:ext cx="762000" cy="762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249680" y="2476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22500" y="2476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准备和初始化数据（CPU）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22500" y="30226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h_a / h_b / h_c 在 Host 侧初始化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25600" y="3302000"/>
            <a:ext cx="0" cy="444500"/>
          </a:xfrm>
          <a:prstGeom prst="straightConnector1">
            <a:avLst/>
          </a:prstGeom>
          <a:noFill/>
          <a:ln w="254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49680" y="3937000"/>
            <a:ext cx="762000" cy="762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249680" y="3937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22500" y="393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数据传输到 GPU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22500" y="44831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d_a / d_b / d_c，cudaMemcpyHostToDevice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25600" y="4762500"/>
            <a:ext cx="0" cy="444500"/>
          </a:xfrm>
          <a:prstGeom prst="straightConnector1">
            <a:avLst/>
          </a:prstGeom>
          <a:noFill/>
          <a:ln w="254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49680" y="5397500"/>
            <a:ext cx="762000" cy="7620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" y="5397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22500" y="5397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从 GM 读取并计算后写回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22500" y="5943600"/>
            <a:ext cx="952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block_dim / grid_dim、&lt;&lt;&lt; &gt;&gt;&gt;、add_kernel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25600" y="6223000"/>
            <a:ext cx="0" cy="444500"/>
          </a:xfrm>
          <a:prstGeom prst="straightConnector1">
            <a:avLst/>
          </a:prstGeom>
          <a:noFill/>
          <a:ln w="254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49680" y="6858000"/>
            <a:ext cx="762000" cy="762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249680" y="685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22500" y="685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将 GPU 数据传输回 CPU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22500" y="74041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cudaMemcpyDeviceToHost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25600" y="7683500"/>
            <a:ext cx="0" cy="444500"/>
          </a:xfrm>
          <a:prstGeom prst="straightConnector1">
            <a:avLst/>
          </a:prstGeom>
          <a:noFill/>
          <a:ln w="254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249680" y="8318500"/>
            <a:ext cx="762000" cy="762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5" name="Text 23"/>
          <p:cNvSpPr/>
          <p:nvPr/>
        </p:nvSpPr>
        <p:spPr>
          <a:xfrm>
            <a:off x="1249680" y="8318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22500" y="8318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释放显存并结束程序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222500" y="88646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cudaFree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0" y="2476500"/>
            <a:ext cx="10414000" cy="6604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7"/>
          <p:cNvSpPr/>
          <p:nvPr/>
        </p:nvSpPr>
        <p:spPr>
          <a:xfrm>
            <a:off x="13081000" y="2730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核心理解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081000" y="3556000"/>
            <a:ext cx="9652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程序虽然更长，但不是在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乱长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而是把一条链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显式</a:t>
            </a:r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写出来：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数据准备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传输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计算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回传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收尾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CUDA_CHECK 是辅助结构：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每一步 CUDA 调用后确认没出错</a:t>
            </a:r>
            <a:endParaRPr lang="en-US" sz="2930" dirty="0"/>
          </a:p>
        </p:txBody>
      </p:sp>
      <p:sp>
        <p:nvSpPr>
          <p:cNvPr id="31" name="Text 29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3556000"/>
            <a:ext cx="762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5334000"/>
            <a:ext cx="1524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线程层级结构与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核函数执行模型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1249680" y="8890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上到底是谁在算？线程怎么组织、怎么定位、怎么和数组元素对应？</a:t>
            </a:r>
            <a:endParaRPr lang="en-US" sz="3730" dirty="0"/>
          </a:p>
        </p:txBody>
      </p:sp>
      <p:sp>
        <p:nvSpPr>
          <p:cNvPr id="5" name="Shape 3"/>
          <p:cNvSpPr/>
          <p:nvPr/>
        </p:nvSpPr>
        <p:spPr>
          <a:xfrm>
            <a:off x="1249680" y="8636000"/>
            <a:ext cx="2032000" cy="63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Shape 4"/>
          <p:cNvSpPr/>
          <p:nvPr/>
        </p:nvSpPr>
        <p:spPr>
          <a:xfrm>
            <a:off x="17780000" y="2540000"/>
            <a:ext cx="5334000" cy="8890000"/>
          </a:xfrm>
          <a:prstGeom prst="rect">
            <a:avLst/>
          </a:prstGeom>
          <a:solidFill>
            <a:srgbClr val="7EC0DA">
              <a:alpha val="8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SIMT 与线程层级结构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349500"/>
            <a:ext cx="21844000" cy="1270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2133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SIMT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Single Instruction Multiple Threads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不是一个线程自己循环很多次，而是</a:t>
            </a:r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很多线程同时做同一类小计算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9680" y="4064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线程层级：Grid → Block </a:t>
            </a:r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5080000"/>
            <a:ext cx="19050000" cy="4064000"/>
          </a:xfrm>
          <a:prstGeom prst="rect">
            <a:avLst/>
          </a:prstGeom>
          <a:solidFill>
            <a:srgbClr val="3A3A3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520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24000" y="5842000"/>
            <a:ext cx="4318000" cy="2921000"/>
          </a:xfrm>
          <a:prstGeom prst="rect">
            <a:avLst/>
          </a:prstGeom>
          <a:solidFill>
            <a:srgbClr val="4A4A4A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4500" y="5969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05000" y="6604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40000" y="6604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5000" y="6604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10000" y="6604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00" y="7239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0000" y="7239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175000" y="7239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810000" y="7239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0" y="6858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...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0" y="5842000"/>
            <a:ext cx="4318000" cy="2921000"/>
          </a:xfrm>
          <a:prstGeom prst="rect">
            <a:avLst/>
          </a:prstGeom>
          <a:solidFill>
            <a:srgbClr val="4A4A4A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0500" y="5969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01000" y="6604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636000" y="6604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271000" y="6604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9906000" y="6604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0" y="7239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636000" y="7239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271000" y="7239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906000" y="723900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249680" y="9525000"/>
            <a:ext cx="152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：很多个 Block 的集合，覆盖整个问题规模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：一组线程，方便组织和调度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：最小执行单位，真正处理某个数组位置</a:t>
            </a:r>
            <a:endParaRPr lang="en-US" sz="2930" dirty="0"/>
          </a:p>
        </p:txBody>
      </p:sp>
      <p:sp>
        <p:nvSpPr>
          <p:cNvPr id="31" name="Text 29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 flipH="1">
            <a:off x="10435817" y="4715496"/>
            <a:ext cx="879777" cy="1702793"/>
          </a:xfrm>
          <a:prstGeom prst="line">
            <a:avLst/>
          </a:prstGeom>
          <a:noFill/>
          <a:ln w="76200">
            <a:solidFill>
              <a:srgbClr val="327A86"/>
            </a:solidFill>
            <a:prstDash val="solid"/>
            <a:headEnd type="arrow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1059288" y="4254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59BB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</a:t>
            </a:r>
            <a:endParaRPr lang="en-US" sz="1600" dirty="0"/>
          </a:p>
        </p:txBody>
      </p:sp>
      <p:pic>
        <p:nvPicPr>
          <p:cNvPr id="34" name="Image 0" descr="https://kimi-img.moonshot.cn/pub/slides/26-05-29-15:55:20-d8ckcq3id4m65lspc8b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0832" y="5392788"/>
            <a:ext cx="11389488" cy="465376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dim3、block_dim 与 grid_dim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dim3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：CUDA 中常用的三维配置类型（x / y / z）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当前一维加法主要只沿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排开</a:t>
            </a:r>
            <a:endParaRPr lang="en-US" sz="2930" dirty="0"/>
          </a:p>
        </p:txBody>
      </p:sp>
      <p:sp>
        <p:nvSpPr>
          <p:cNvPr id="5" name="Shape 3"/>
          <p:cNvSpPr/>
          <p:nvPr/>
        </p:nvSpPr>
        <p:spPr>
          <a:xfrm>
            <a:off x="1249680" y="3683000"/>
            <a:ext cx="10160000" cy="101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810000"/>
            <a:ext cx="965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dim3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block_dim(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256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每个 Block 256 个线程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49680" y="4953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block_dim(256) = 每个 Block 里放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256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个线程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5969000"/>
            <a:ext cx="11430000" cy="101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6096000"/>
            <a:ext cx="1092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dim3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grid_dim((SIZE + block_dim.x -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/ block_dim.x);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49680" y="7239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grid_dim = 向上取整算出总共需要多少个 Block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公式拆解：</a:t>
            </a:r>
            <a:endParaRPr lang="en-US" sz="2930" dirty="0"/>
          </a:p>
        </p:txBody>
      </p:sp>
      <p:sp>
        <p:nvSpPr>
          <p:cNvPr id="11" name="Shape 9"/>
          <p:cNvSpPr/>
          <p:nvPr/>
        </p:nvSpPr>
        <p:spPr>
          <a:xfrm>
            <a:off x="1249680" y="8890000"/>
            <a:ext cx="11430000" cy="1270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9017000"/>
            <a:ext cx="1092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 = 总元素数 | block_dim.x = 每块线程数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block_dim.x - 1 = </a:t>
            </a:r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向上取整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335000" y="2286000"/>
            <a:ext cx="9779000" cy="7874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13652500" y="254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关键变量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652500" y="3365500"/>
            <a:ext cx="9144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block_dim.x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 Block 在一维方向上的线程数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grid_dim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启动时总共要开的 Block 数量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两者关系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grid_dim 根据 SIZE 和 block_dim.x 计算得出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确保所有元素都被线程覆盖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示例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 = 1,048,576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block_dim = 256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grid_dim = 4096</a:t>
            </a:r>
            <a:endParaRPr lang="en-US" sz="2930" dirty="0"/>
          </a:p>
        </p:txBody>
      </p:sp>
      <p:sp>
        <p:nvSpPr>
          <p:cNvPr id="16" name="Text 14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49680" y="10528939"/>
            <a:ext cx="11430000" cy="4064000"/>
          </a:xfrm>
          <a:prstGeom prst="rect">
            <a:avLst/>
          </a:prstGeom>
          <a:solidFill>
            <a:srgbClr val="3A3A3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000" y="10655939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24000" y="11290939"/>
            <a:ext cx="4318000" cy="2921000"/>
          </a:xfrm>
          <a:prstGeom prst="rect">
            <a:avLst/>
          </a:prstGeom>
          <a:solidFill>
            <a:srgbClr val="4A4A4A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4500" y="11417939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905000" y="12052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540000" y="12052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175000" y="12052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810000" y="12052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12687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540000" y="12687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175000" y="12687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810000" y="12687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096000" y="12306939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...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0" y="11290939"/>
            <a:ext cx="4318000" cy="2921000"/>
          </a:xfrm>
          <a:prstGeom prst="rect">
            <a:avLst/>
          </a:prstGeom>
          <a:solidFill>
            <a:srgbClr val="4A4A4A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0500" y="11417939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01000" y="12052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636000" y="12052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271000" y="12052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9906000" y="12052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001000" y="12687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636000" y="12687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9271000" y="12687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9906000" y="12687939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936823" y="4062758"/>
            <a:ext cx="5335419" cy="7832849"/>
          </a:xfrm>
          <a:prstGeom prst="curvedConnector2">
            <a:avLst/>
          </a:prstGeom>
          <a:noFill/>
          <a:ln w="50800">
            <a:solidFill>
              <a:srgbClr val="FF0E0E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2886767" y="4488457"/>
            <a:ext cx="4540782" cy="6640894"/>
          </a:xfrm>
          <a:prstGeom prst="line">
            <a:avLst/>
          </a:prstGeom>
          <a:noFill/>
          <a:ln w="50800">
            <a:solidFill>
              <a:srgbClr val="FF0404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 flipH="1">
            <a:off x="2744867" y="6702088"/>
            <a:ext cx="28380" cy="3632626"/>
          </a:xfrm>
          <a:prstGeom prst="line">
            <a:avLst/>
          </a:prstGeom>
          <a:noFill/>
          <a:ln w="50800">
            <a:solidFill>
              <a:srgbClr val="E10B0B"/>
            </a:solidFill>
            <a:prstDash val="solid"/>
            <a:headEnd type="arrow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配置与核函数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&lt;&lt;&lt;grid_dim, block_dim&gt;&gt;&gt;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36830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启动配置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configuration 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告诉 GPU 怎么组织线程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1249680" y="4318000"/>
            <a:ext cx="10795000" cy="76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4381500"/>
            <a:ext cx="1028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add_kernel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&lt;&lt;&lt;grid_dim, block_dim&gt;&gt;&gt;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(d_c, d_a, d_b, SIZE);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49680" y="5270500"/>
            <a:ext cx="1079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&lt;&lt;&lt; &gt;&gt;&gt;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负责组织线程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(...)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负责传数据地址和问题规模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两者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分开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，职责不同</a:t>
            </a:r>
            <a:endParaRPr lang="en-US" sz="2930" dirty="0"/>
          </a:p>
        </p:txBody>
      </p:sp>
      <p:sp>
        <p:nvSpPr>
          <p:cNvPr id="9" name="Text 7"/>
          <p:cNvSpPr/>
          <p:nvPr/>
        </p:nvSpPr>
        <p:spPr>
          <a:xfrm>
            <a:off x="1249680" y="711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核函数 kernel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9680" y="7874000"/>
            <a:ext cx="1079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在 GPU 上执行，由 Host 发起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被很多线程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共同执行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是一份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统一的计算规则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，不是给某个线程专门写的</a:t>
            </a:r>
            <a:endParaRPr lang="en-US" sz="2930" dirty="0"/>
          </a:p>
        </p:txBody>
      </p:sp>
      <p:sp>
        <p:nvSpPr>
          <p:cNvPr id="11" name="Text 9"/>
          <p:cNvSpPr/>
          <p:nvPr/>
        </p:nvSpPr>
        <p:spPr>
          <a:xfrm>
            <a:off x="1249680" y="965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__global__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9680" y="10414000"/>
            <a:ext cx="1079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表示这是一个由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发起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、在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 上执行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的核函数</a:t>
            </a:r>
            <a:endParaRPr lang="en-US" sz="2930" dirty="0"/>
          </a:p>
        </p:txBody>
      </p:sp>
      <p:sp>
        <p:nvSpPr>
          <p:cNvPr id="13" name="Shape 11"/>
          <p:cNvSpPr/>
          <p:nvPr/>
        </p:nvSpPr>
        <p:spPr>
          <a:xfrm>
            <a:off x="12700000" y="2286000"/>
            <a:ext cx="10414000" cy="889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13017500" y="2540000"/>
            <a:ext cx="9779000" cy="838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核函数定义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__global__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add_kernel(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c, 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a, 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b, i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n) {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        int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idx = blockIdx.x * blockDim.x + threadIdx.x;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        if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(idx &lt; n) {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                c[idx] = a[idx] + b[idx];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        }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885434" y="6635750"/>
            <a:ext cx="10990566" cy="4064000"/>
          </a:xfrm>
          <a:prstGeom prst="rect">
            <a:avLst/>
          </a:prstGeom>
          <a:solidFill>
            <a:srgbClr val="3A3A3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159754" y="676275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159754" y="7397750"/>
            <a:ext cx="4318000" cy="2921000"/>
          </a:xfrm>
          <a:prstGeom prst="rect">
            <a:avLst/>
          </a:prstGeom>
          <a:solidFill>
            <a:srgbClr val="4A4A4A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50254" y="752475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540754" y="8159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4175754" y="8159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10754" y="8159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5445754" y="8159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3540754" y="8794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4175754" y="8794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4810754" y="8794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5445754" y="8794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7731754" y="841375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...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9255754" y="7397750"/>
            <a:ext cx="4318000" cy="2921000"/>
          </a:xfrm>
          <a:prstGeom prst="rect">
            <a:avLst/>
          </a:prstGeom>
          <a:solidFill>
            <a:srgbClr val="4A4A4A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446254" y="752475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9636754" y="8159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271754" y="8159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906754" y="8159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1541754" y="8159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9636754" y="8794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271754" y="8794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0906754" y="8794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1541754" y="8794750"/>
            <a:ext cx="381000" cy="381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 flipH="1" flipV="1">
            <a:off x="19113560" y="4065134"/>
            <a:ext cx="1203158" cy="2492256"/>
          </a:xfrm>
          <a:prstGeom prst="curvedConnector2">
            <a:avLst/>
          </a:prstGeom>
          <a:noFill/>
          <a:ln w="63500">
            <a:solidFill>
              <a:srgbClr val="E30C0C"/>
            </a:solidFill>
            <a:prstDash val="solid"/>
            <a:headEnd type="arrow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索引公式与 CPU/GPU 执行对照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三个关键变量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3048000"/>
            <a:ext cx="1079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blockIdx.x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：当前线程所在的 Block 编号</a:t>
            </a:r>
            <a:endParaRPr lang="en-US" sz="2930" dirty="0"/>
          </a:p>
        </p:txBody>
      </p:sp>
      <p:sp>
        <p:nvSpPr>
          <p:cNvPr id="6" name="Text 4"/>
          <p:cNvSpPr/>
          <p:nvPr/>
        </p:nvSpPr>
        <p:spPr>
          <a:xfrm>
            <a:off x="1249680" y="3619500"/>
            <a:ext cx="1079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blockDim.x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：每个 Block 的线程数量</a:t>
            </a:r>
            <a:endParaRPr lang="en-US" sz="2930" dirty="0"/>
          </a:p>
        </p:txBody>
      </p:sp>
      <p:sp>
        <p:nvSpPr>
          <p:cNvPr id="7" name="Text 5"/>
          <p:cNvSpPr/>
          <p:nvPr/>
        </p:nvSpPr>
        <p:spPr>
          <a:xfrm>
            <a:off x="1249680" y="4191000"/>
            <a:ext cx="1079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threadIdx.x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：当前线程在本 Block 内的编号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5080000"/>
            <a:ext cx="10795000" cy="1524000"/>
          </a:xfrm>
          <a:prstGeom prst="rect">
            <a:avLst/>
          </a:prstGeom>
          <a:solidFill>
            <a:srgbClr val="2A3A42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520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一维全局索引公式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5778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idx = blockIdx.x * blockDim.x + threadIdx.x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49680" y="68580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含义：前面所有完整 Block 覆盖的位置数 + 当前 Block 内偏移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(idx &lt; n)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：边界判断，防止最后一个 Block 的线程越界</a:t>
            </a:r>
            <a:endParaRPr lang="en-US" sz="2930" dirty="0"/>
          </a:p>
        </p:txBody>
      </p:sp>
      <p:sp>
        <p:nvSpPr>
          <p:cNvPr id="12" name="Text 10"/>
          <p:cNvSpPr/>
          <p:nvPr/>
        </p:nvSpPr>
        <p:spPr>
          <a:xfrm>
            <a:off x="1249680" y="825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vs GPU 执行对照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49680" y="9080500"/>
            <a:ext cx="5080000" cy="1270000"/>
          </a:xfrm>
          <a:prstGeom prst="rect">
            <a:avLst/>
          </a:prstGeom>
          <a:solidFill>
            <a:srgbClr val="3A3A3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0500" y="92075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一个线程逐个做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0" y="939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0" y="9080500"/>
            <a:ext cx="5080000" cy="1270000"/>
          </a:xfrm>
          <a:prstGeom prst="rect">
            <a:avLst/>
          </a:prstGeom>
          <a:solidFill>
            <a:srgbClr val="3A3A3A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0500" y="92075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很多线程同时各做一个位置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335000" y="2286000"/>
            <a:ext cx="9779000" cy="8128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13652500" y="254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核函数内部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652500" y="3365500"/>
            <a:ext cx="914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idx = blockIdx.x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blockDim.x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threadIdx.x;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(idx &lt; n) {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c[idx] = a[idx] + b[idx];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652500" y="6223000"/>
            <a:ext cx="914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每个线程：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计算自己的全局索引 idx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检查 idx 是否在有效范围内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处理自己负责的那个元素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最小例子：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一个线程处理一个数组元素</a:t>
            </a:r>
            <a:endParaRPr lang="en-US" sz="2930" dirty="0"/>
          </a:p>
        </p:txBody>
      </p:sp>
      <p:sp>
        <p:nvSpPr>
          <p:cNvPr id="22" name="Text 20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3556000"/>
            <a:ext cx="762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5334000"/>
            <a:ext cx="1524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编译流程与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架构选项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1249680" y="8890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 .cu 不能像普通 .cpp 一样直接编？nvcc 在这里扮演什么角色？</a:t>
            </a:r>
            <a:endParaRPr lang="en-US" sz="3730" dirty="0"/>
          </a:p>
        </p:txBody>
      </p:sp>
      <p:sp>
        <p:nvSpPr>
          <p:cNvPr id="5" name="Shape 3"/>
          <p:cNvSpPr/>
          <p:nvPr/>
        </p:nvSpPr>
        <p:spPr>
          <a:xfrm>
            <a:off x="1249680" y="8636000"/>
            <a:ext cx="2032000" cy="63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Shape 4"/>
          <p:cNvSpPr/>
          <p:nvPr/>
        </p:nvSpPr>
        <p:spPr>
          <a:xfrm>
            <a:off x="17780000" y="2540000"/>
            <a:ext cx="5334000" cy="8890000"/>
          </a:xfrm>
          <a:prstGeom prst="rect">
            <a:avLst/>
          </a:prstGeom>
          <a:solidFill>
            <a:srgbClr val="7EC0DA">
              <a:alpha val="8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g++ vs nvcc 与 .cu 的双侧结构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413000"/>
            <a:ext cx="10160000" cy="1778000"/>
          </a:xfrm>
          <a:prstGeom prst="rect">
            <a:avLst/>
          </a:prstGeom>
          <a:solidFill>
            <a:srgbClr val="333333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9680" y="2413000"/>
            <a:ext cx="1524000" cy="635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249680" y="2413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g++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31750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处理普通 C++，如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add_cpu.cpp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249680" y="4572000"/>
            <a:ext cx="10160000" cy="2159000"/>
          </a:xfrm>
          <a:prstGeom prst="rect">
            <a:avLst/>
          </a:prstGeom>
          <a:solidFill>
            <a:srgbClr val="333333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9680" y="4572000"/>
            <a:ext cx="2032000" cy="6350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10" name="Text 8"/>
          <p:cNvSpPr/>
          <p:nvPr/>
        </p:nvSpPr>
        <p:spPr>
          <a:xfrm>
            <a:off x="1249680" y="4572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nvcc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53340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70AD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IDIA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0AD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UDA 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70AD4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ompiler，处理带 device 内容的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add_cuda.cu</a:t>
            </a:r>
            <a:endParaRPr lang="en-US" sz="2930" dirty="0"/>
          </a:p>
        </p:txBody>
      </p:sp>
      <p:sp>
        <p:nvSpPr>
          <p:cNvPr id="12" name="Text 10"/>
          <p:cNvSpPr/>
          <p:nvPr/>
        </p:nvSpPr>
        <p:spPr>
          <a:xfrm>
            <a:off x="1249680" y="6858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不是命令名不同，而是</a:t>
            </a:r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处理对象不同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46000" y="2413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.cu 文件的双侧结构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446000" y="3302000"/>
            <a:ext cx="10668000" cy="2032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0" y="3429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 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0" y="4000500"/>
            <a:ext cx="1016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std::vector、cudaMalloc、cudaMemcpy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add_kernel&lt;&lt;&lt;...&gt;&gt;&gt;(...)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446000" y="5715000"/>
            <a:ext cx="10668000" cy="2032000"/>
          </a:xfrm>
          <a:prstGeom prst="rect">
            <a:avLst/>
          </a:prstGeom>
          <a:solidFill>
            <a:srgbClr val="2A42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0" y="5842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 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0" y="6413500"/>
            <a:ext cx="1016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__global__ void add_kernel(...)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 c[idx] = a[idx] + b[idx]; }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9680" y="8382000"/>
            <a:ext cx="215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.cu 复杂不是因为"更长"，而是同一个文件同时描述了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两侧工作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：一侧负责准备和调度，一侧负责并行计算</a:t>
            </a:r>
            <a:endParaRPr lang="en-US" sz="2930" dirty="0"/>
          </a:p>
        </p:txBody>
      </p:sp>
      <p:sp>
        <p:nvSpPr>
          <p:cNvPr id="21" name="Text 19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nvcc 的角色与 GPU 侧产物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nvcc 不是"另一个编译器"，而是 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 编译链的组织者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Host 侧代码 → 继续走普通 C++ 路径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Device 侧代码 → 整理成 GPU 能接受的表示</a:t>
            </a:r>
            <a:endParaRPr lang="en-US" sz="2930" dirty="0"/>
          </a:p>
        </p:txBody>
      </p:sp>
      <p:sp>
        <p:nvSpPr>
          <p:cNvPr id="5" name="Shape 3"/>
          <p:cNvSpPr/>
          <p:nvPr/>
        </p:nvSpPr>
        <p:spPr>
          <a:xfrm>
            <a:off x="1249680" y="4318000"/>
            <a:ext cx="10795000" cy="889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4445000"/>
            <a:ext cx="1028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.cu 文件 → nvcc 分离 Host/Device 代码 → 分别编译 → 链接 → 可执行文件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9680" y="609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侧产物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49680" y="6985000"/>
            <a:ext cx="6350000" cy="1270000"/>
          </a:xfrm>
          <a:prstGeom prst="rect">
            <a:avLst/>
          </a:prstGeom>
          <a:solidFill>
            <a:srgbClr val="333333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0500" y="7112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0500" y="7594600"/>
            <a:ext cx="5905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偏中间层的 GPU 代码表示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9680" y="8645853"/>
            <a:ext cx="6350000" cy="1270000"/>
          </a:xfrm>
          <a:prstGeom prst="rect">
            <a:avLst/>
          </a:prstGeom>
          <a:solidFill>
            <a:srgbClr val="333333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5580" y="8772853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CUBIN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5580" y="9255453"/>
            <a:ext cx="5905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更接近具体 GPU 的目标二进制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49680" y="10206047"/>
            <a:ext cx="6350000" cy="1270000"/>
          </a:xfrm>
          <a:prstGeom prst="rect">
            <a:avLst/>
          </a:prstGeom>
          <a:solidFill>
            <a:srgbClr val="333333"/>
          </a:solidFill>
          <a:ln w="254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5580" y="10333047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F81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FATBIN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5580" y="10815647"/>
            <a:ext cx="5905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把多种 GPU 目标形式一起打包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pic>
        <p:nvPicPr>
          <p:cNvPr id="18" name="Image 0" descr="https://kimi-img.moonshot.cn/pub/slides/26-05-29-16:04:51-d8ckh8thstkghbtu5bf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2233" y="2107512"/>
            <a:ext cx="10101447" cy="10897977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Capability 与编译选项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Capability（计算能力）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描述 GPU 架构能力级别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不是程序版本号，也不是驱动版本号</a:t>
            </a:r>
            <a:endParaRPr lang="en-US" sz="2930" dirty="0"/>
          </a:p>
        </p:txBody>
      </p:sp>
      <p:sp>
        <p:nvSpPr>
          <p:cNvPr id="5" name="Shape 3"/>
          <p:cNvSpPr/>
          <p:nvPr/>
        </p:nvSpPr>
        <p:spPr>
          <a:xfrm>
            <a:off x="1249680" y="4064000"/>
            <a:ext cx="11430000" cy="1778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4191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实例映射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4762500"/>
            <a:ext cx="1092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A100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（具体 GPU）→ </a:t>
            </a:r>
            <a:pPr>
              <a:lnSpc>
                <a:spcPct val="100000"/>
              </a:lnSpc>
            </a:pPr>
            <a:r>
              <a:rPr lang="en-US" sz="2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Ampere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（架构代）→ </a:t>
            </a:r>
            <a:pPr>
              <a:lnSpc>
                <a:spcPct val="100000"/>
              </a:lnSpc>
            </a:pPr>
            <a:r>
              <a:rPr lang="en-US" sz="2600" b="1" dirty="0">
                <a:solidFill>
                  <a:srgbClr val="4F81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 8.0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（计算能力）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9680" y="635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编译选项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49680" y="7239000"/>
            <a:ext cx="10160000" cy="1270000"/>
          </a:xfrm>
          <a:prstGeom prst="rect">
            <a:avLst/>
          </a:prstGeom>
          <a:solidFill>
            <a:srgbClr val="333333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4000" y="7366000"/>
            <a:ext cx="965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-arch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endParaRPr lang="en-US" sz="2930" dirty="0"/>
          </a:p>
        </p:txBody>
      </p:sp>
      <p:sp>
        <p:nvSpPr>
          <p:cNvPr id="11" name="Shape 9"/>
          <p:cNvSpPr/>
          <p:nvPr/>
        </p:nvSpPr>
        <p:spPr>
          <a:xfrm>
            <a:off x="1249680" y="8763000"/>
            <a:ext cx="10160000" cy="1270000"/>
          </a:xfrm>
          <a:prstGeom prst="rect">
            <a:avLst/>
          </a:prstGeom>
          <a:solidFill>
            <a:srgbClr val="333333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4000" y="8890000"/>
            <a:ext cx="965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-code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endParaRPr lang="en-US" sz="2930" dirty="0"/>
          </a:p>
        </p:txBody>
      </p:sp>
      <p:sp>
        <p:nvSpPr>
          <p:cNvPr id="13" name="Text 11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pic>
        <p:nvPicPr>
          <p:cNvPr id="14" name="Image 0" descr="https://kimi-img.moonshot.cn/pub/slides/26-05-29-16:07:31-d8ckigsqdqeq2u4t2k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7777080"/>
            <a:ext cx="10726061" cy="1736316"/>
          </a:xfrm>
          <a:prstGeom prst="rect">
            <a:avLst/>
          </a:prstGeom>
        </p:spPr>
      </p:pic>
      <p:pic>
        <p:nvPicPr>
          <p:cNvPr id="15" name="Image 1" descr="https://kimi-img.moonshot.cn/pub/slides/26-05-29-16:07:53-d8ckimdhstkghbtu7r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963" y="2477991"/>
            <a:ext cx="8713552" cy="901401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Makefile 与项目编译命令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286000"/>
            <a:ext cx="11430000" cy="6477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10922000" cy="62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code/Makefile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add_cpu add_cuda add_cuda_grid_stride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CPU 基线程序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add_cpu: add_cpu.cpp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g++ -O2 -std=c++17 $&lt; -o $@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CUDA 主线程序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add_cuda: add_cuda.cu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nvcc -O2 -std=c++17 $&lt; -o $@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调试版本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add_cuda_debug: add_cuda.cu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nvcc -O0 -std=c++17 -g -G $&lt; -o $@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335000" y="228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命令解读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35000" y="3238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0" y="3111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add_cpu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g++ 编普通 CPU 基线程序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335000" y="4381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0" y="4254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add_cuda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nvcc 编主线 CUDA 程序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335000" y="5524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0" y="5397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add_cuda_debug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带调试信息的版本（-O0 -g -G）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335000" y="6667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0" y="6540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add_cuda_grid_stride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性能附录程序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49680" y="9144000"/>
            <a:ext cx="21590000" cy="1016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9271000"/>
            <a:ext cx="209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学生要能把抽象工具链名词落回到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"这份项目里每条命令各自的角色"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3556000"/>
            <a:ext cx="762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5334000"/>
            <a:ext cx="1524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运行验证、性能与</a:t>
            </a:r>
            <a:endParaRPr lang="en-US" sz="9870" dirty="0"/>
          </a:p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调试入口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1249680" y="8890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程序能跑通，不等于已经合理，更不等于一定快</a:t>
            </a:r>
            <a:endParaRPr lang="en-US" sz="3730" dirty="0"/>
          </a:p>
        </p:txBody>
      </p:sp>
      <p:sp>
        <p:nvSpPr>
          <p:cNvPr id="5" name="Shape 3"/>
          <p:cNvSpPr/>
          <p:nvPr/>
        </p:nvSpPr>
        <p:spPr>
          <a:xfrm>
            <a:off x="1249680" y="8636000"/>
            <a:ext cx="2032000" cy="63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Shape 4"/>
          <p:cNvSpPr/>
          <p:nvPr/>
        </p:nvSpPr>
        <p:spPr>
          <a:xfrm>
            <a:off x="17780000" y="2540000"/>
            <a:ext cx="5334000" cy="8890000"/>
          </a:xfrm>
          <a:prstGeom prst="rect">
            <a:avLst/>
          </a:prstGeom>
          <a:solidFill>
            <a:srgbClr val="7EC0DA">
              <a:alpha val="8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nvidia-smi 与线程配置合理性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nvidia-smi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49680" y="3238500"/>
            <a:ext cx="6350000" cy="1524000"/>
          </a:xfrm>
          <a:prstGeom prst="rect">
            <a:avLst/>
          </a:prstGeom>
          <a:solidFill>
            <a:srgbClr val="333333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0500" y="3365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进程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39370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是不是这段程序在用 GPU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74000" y="3238500"/>
            <a:ext cx="6350000" cy="1524000"/>
          </a:xfrm>
          <a:prstGeom prst="rect">
            <a:avLst/>
          </a:prstGeom>
          <a:solidFill>
            <a:srgbClr val="333333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89900" y="3365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显存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89900" y="39370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数据有没有真的放到 GPU 上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503400" y="3238500"/>
            <a:ext cx="6350000" cy="1524000"/>
          </a:xfrm>
          <a:prstGeom prst="rect">
            <a:avLst/>
          </a:prstGeom>
          <a:solidFill>
            <a:srgbClr val="333333"/>
          </a:solidFill>
          <a:ln w="25400">
            <a:solidFill>
              <a:srgbClr val="4F81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19300" y="3365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F81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Util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719300" y="39370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计算单元有没有真的忙起来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9680" y="5133862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&lt;&lt;&lt;1, 1&gt;&gt;&gt; 反例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49680" y="6022862"/>
            <a:ext cx="10160000" cy="2349500"/>
          </a:xfrm>
          <a:prstGeom prst="rect">
            <a:avLst/>
          </a:prstGeom>
          <a:solidFill>
            <a:srgbClr val="42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6213362"/>
            <a:ext cx="965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一个 Block，一个 Thread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并行规模没有被拉开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连问题规模都覆盖不完整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资源没铺开，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会接近串行</a:t>
            </a:r>
            <a:endParaRPr lang="en-US" sz="2930" dirty="0"/>
          </a:p>
        </p:txBody>
      </p:sp>
      <p:sp>
        <p:nvSpPr>
          <p:cNvPr id="17" name="Text 15"/>
          <p:cNvSpPr/>
          <p:nvPr/>
        </p:nvSpPr>
        <p:spPr>
          <a:xfrm>
            <a:off x="12446000" y="5133862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更合理的配置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46000" y="6022862"/>
            <a:ext cx="10668000" cy="2349500"/>
          </a:xfrm>
          <a:prstGeom prst="rect">
            <a:avLst/>
          </a:prstGeom>
          <a:solidFill>
            <a:srgbClr val="2A42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725400" y="6213362"/>
            <a:ext cx="1016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block_dim(256)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 Block 256 个线程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grid_dim((n + 255) / 256)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保证总元素被覆盖</a:t>
            </a:r>
            <a:endParaRPr lang="en-US" sz="2930" dirty="0"/>
          </a:p>
        </p:txBody>
      </p:sp>
      <p:sp>
        <p:nvSpPr>
          <p:cNvPr id="20" name="Text 18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  <p:pic>
        <p:nvPicPr>
          <p:cNvPr id="21" name="Image 0" descr="https://kimi-img.moonshot.cn/pub/slides/26-05-29-16:11:05-d8ckk6dkjflhvljus4j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680" y="8534400"/>
            <a:ext cx="5334000" cy="4927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091680" y="106807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&lt;&lt;&lt;1,1&gt;&gt;&gt;比CPU还慢？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Overhead 与 Nsys 时间线分析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现象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3048000"/>
            <a:ext cx="1079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很多小 launch，真正计算的段很碎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中间还有空隙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程序慢，但慢的不一定是计算本身</a:t>
            </a:r>
            <a:endParaRPr lang="en-US" sz="2930" dirty="0"/>
          </a:p>
        </p:txBody>
      </p:sp>
      <p:sp>
        <p:nvSpPr>
          <p:cNvPr id="6" name="Text 4"/>
          <p:cNvSpPr/>
          <p:nvPr/>
        </p:nvSpPr>
        <p:spPr>
          <a:xfrm>
            <a:off x="1249680" y="5080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Overhead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5969000"/>
            <a:ext cx="10795000" cy="24765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6159500"/>
            <a:ext cx="1028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每次 kernel 启动的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固定代价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不是加法本身在慢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而是"把 kernel 启动起来"本身就有成本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小 launch 反复累加 = 总时间被拉长</a:t>
            </a:r>
            <a:endParaRPr lang="en-US" sz="2930" dirty="0"/>
          </a:p>
        </p:txBody>
      </p:sp>
      <p:sp>
        <p:nvSpPr>
          <p:cNvPr id="9" name="Text 7"/>
          <p:cNvSpPr/>
          <p:nvPr/>
        </p:nvSpPr>
        <p:spPr>
          <a:xfrm>
            <a:off x="12446000" y="228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Nsys / Nsight Systems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46000" y="3175000"/>
            <a:ext cx="10668000" cy="318891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12725400" y="33655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能放在同一条时间线上看：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cudaMemcpy（数据传输）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kernel launch（启动）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kernel 真正执行（计算）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中间空隙（overhead）</a:t>
            </a:r>
            <a:endParaRPr lang="en-US" sz="2930" dirty="0"/>
          </a:p>
        </p:txBody>
      </p:sp>
      <p:sp>
        <p:nvSpPr>
          <p:cNvPr id="12" name="Text 10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  <p:pic>
        <p:nvPicPr>
          <p:cNvPr id="13" name="Image 0" descr="https://kimi-img.moonshot.cn/pub/slides/26-05-29-16:13:45-d8ckledhstkghbtuch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680" y="8788400"/>
            <a:ext cx="6070600" cy="4419600"/>
          </a:xfrm>
          <a:prstGeom prst="rect">
            <a:avLst/>
          </a:prstGeom>
        </p:spPr>
      </p:pic>
      <p:pic>
        <p:nvPicPr>
          <p:cNvPr id="14" name="Image 1" descr="https://kimi-img.moonshot.cn/pub/slides/26-05-29-16:14:12-d8ckll09ma9o1toesqk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950" y="6858000"/>
            <a:ext cx="9690100" cy="54229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Grid-Strided Loop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30480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不要让 CPU 在外面反复发很多次小 kernel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让已经启动起来的线程在 kernel 里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继续往后处理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属于自己的元素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1249680" y="4445000"/>
            <a:ext cx="10795000" cy="1016000"/>
          </a:xfrm>
          <a:prstGeom prst="rect">
            <a:avLst/>
          </a:prstGeom>
          <a:solidFill>
            <a:srgbClr val="2A3A42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4000" y="4572000"/>
            <a:ext cx="1028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idx += blockDim.x * gridDim.x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9680" y="5715000"/>
            <a:ext cx="1079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含义：处理完一个位置后，跳到下一个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仍然属于自己工作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的位置</a:t>
            </a:r>
            <a:endParaRPr lang="en-US" sz="2930" dirty="0"/>
          </a:p>
        </p:txBody>
      </p:sp>
      <p:sp>
        <p:nvSpPr>
          <p:cNvPr id="9" name="Text 7"/>
          <p:cNvSpPr/>
          <p:nvPr/>
        </p:nvSpPr>
        <p:spPr>
          <a:xfrm>
            <a:off x="1249680" y="698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对比两种写法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9680" y="7810500"/>
            <a:ext cx="10160000" cy="1524000"/>
          </a:xfrm>
          <a:prstGeom prst="rect">
            <a:avLst/>
          </a:prstGeom>
          <a:solidFill>
            <a:srgbClr val="422A2A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7937500"/>
            <a:ext cx="977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外层多次小 launch（不好）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offset = 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offset &lt; n; offset += chunk)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add_kernel_chunked&lt;&lt;&lt;...&gt;&gt;&gt;(...);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9680" y="9588500"/>
            <a:ext cx="10160000" cy="1270000"/>
          </a:xfrm>
          <a:prstGeom prst="rect">
            <a:avLst/>
          </a:prstGeom>
          <a:solidFill>
            <a:srgbClr val="2A423A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9715500"/>
            <a:ext cx="977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kernel 内部 stride（好）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D4D4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(; idx &lt; n; idx += stride) c[idx] = a[idx] + b[idx];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446000" y="2286000"/>
            <a:ext cx="10668000" cy="3048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12725400" y="254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关键理解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25400" y="3365500"/>
            <a:ext cx="10033000" cy="190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减少外部多次 launch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让同一批线程持续往后做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减少launch overhead 的累积</a:t>
            </a:r>
            <a:endParaRPr lang="en-US" sz="2930" dirty="0"/>
          </a:p>
        </p:txBody>
      </p:sp>
      <p:sp>
        <p:nvSpPr>
          <p:cNvPr id="17" name="Text 15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58739" y="6341437"/>
            <a:ext cx="1434373" cy="133371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2763500" y="7810500"/>
            <a:ext cx="10033000" cy="190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可以把之前的grid block thread的图放回来这里，然后拉开，一边是input 一边是output一边是排着队的任务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或者用时间戳</a:t>
            </a:r>
            <a:endParaRPr lang="en-US" sz="293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性能评估指标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2413000"/>
            <a:ext cx="6350000" cy="1651000"/>
          </a:xfrm>
          <a:prstGeom prst="rect">
            <a:avLst/>
          </a:prstGeom>
          <a:solidFill>
            <a:srgbClr val="333333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0500" y="2540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总耗时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0500" y="3111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普通串行基线多久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74000" y="2413000"/>
            <a:ext cx="6350000" cy="1651000"/>
          </a:xfrm>
          <a:prstGeom prst="rect">
            <a:avLst/>
          </a:prstGeom>
          <a:solidFill>
            <a:srgbClr val="333333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89900" y="2540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总耗时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89900" y="3111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完整 CUDA 链路多久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503400" y="2413000"/>
            <a:ext cx="6350000" cy="1651000"/>
          </a:xfrm>
          <a:prstGeom prst="rect">
            <a:avLst/>
          </a:prstGeom>
          <a:solidFill>
            <a:srgbClr val="333333"/>
          </a:solidFill>
          <a:ln w="254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19300" y="2540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F81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kernel 耗时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719300" y="3111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真正并行计算多久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49680" y="4445000"/>
            <a:ext cx="6350000" cy="1651000"/>
          </a:xfrm>
          <a:prstGeom prst="rect">
            <a:avLst/>
          </a:prstGeom>
          <a:solidFill>
            <a:srgbClr val="333333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0500" y="4572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传输耗时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0500" y="5143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H2D / D2H 多久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0" y="4445000"/>
            <a:ext cx="6350000" cy="1651000"/>
          </a:xfrm>
          <a:prstGeom prst="rect">
            <a:avLst/>
          </a:prstGeom>
          <a:solidFill>
            <a:srgbClr val="333333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9900" y="4572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加速比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89900" y="5143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相对 CPU 快了多少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49680" y="6731000"/>
            <a:ext cx="21844000" cy="1270000"/>
          </a:xfrm>
          <a:prstGeom prst="rect">
            <a:avLst/>
          </a:prstGeom>
          <a:solidFill>
            <a:srgbClr val="2A3A42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6858000"/>
            <a:ext cx="2133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总耗时 = </a:t>
            </a:r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传输</a:t>
            </a:r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kernel</a:t>
            </a:r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其他固定开销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49680" y="8636000"/>
            <a:ext cx="215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核心判断：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的价值不是自动出现的，必须放在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完整链路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里看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现象：HtoD 和 DtoH 的耗时均可能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远大于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核函数时间</a:t>
            </a:r>
            <a:endParaRPr lang="en-US" sz="2930" dirty="0"/>
          </a:p>
        </p:txBody>
      </p:sp>
      <p:sp>
        <p:nvSpPr>
          <p:cNvPr id="22" name="Text 20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  <p:pic>
        <p:nvPicPr>
          <p:cNvPr id="23" name="Image 0" descr="https://kimi-img.moonshot.cn/pub/slides/26-05-29-16:17:35-d8ckn7u947o8bm3jsd2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3030" y="7874000"/>
            <a:ext cx="9854237" cy="5068745"/>
          </a:xfrm>
          <a:prstGeom prst="rect">
            <a:avLst/>
          </a:prstGeom>
        </p:spPr>
      </p:pic>
      <p:pic>
        <p:nvPicPr>
          <p:cNvPr id="24" name="Image 1" descr="https://kimi-img.moonshot.cn/pub/slides/26-05-29-16:18:13-d8cknhavb1u3iq40p3s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438" y="9985478"/>
            <a:ext cx="7414465" cy="424315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757680" y="5905500"/>
            <a:ext cx="2133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如果想保留相关计算（知识点）可以多开几页slide说，不会太耗时间，但是怕说的时候他们记得太多不会记下来</a:t>
            </a:r>
            <a:endParaRPr lang="en-US" sz="1600" dirty="0"/>
          </a:p>
        </p:txBody>
      </p:sp>
      <p:pic>
        <p:nvPicPr>
          <p:cNvPr id="26" name="Image 2" descr="https://kimi-img.moonshot.cn/pub/slides/26-05-29-16:19:40-d8cko707dlc5kl2o50c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12" y="10773993"/>
            <a:ext cx="5575300" cy="20828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5-29-16:20:25-d8ckoi9n4ejr6ptg6c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410" y="5061186"/>
            <a:ext cx="11058361" cy="49050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02491" y="4026309"/>
            <a:ext cx="5032887" cy="5010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可以保留提问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77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设备信息、调试入口与问题式收束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9680" y="1905000"/>
            <a:ext cx="21844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228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设备信息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9680" y="3048000"/>
          <a:ext cx="10160000" cy="3048000"/>
        </p:xfrm>
        <a:graphic>
          <a:graphicData uri="http://schemas.openxmlformats.org/drawingml/2006/table">
            <a:tbl>
              <a:tblPr/>
              <a:tblGrid>
                <a:gridCol w="4064000"/>
                <a:gridCol w="60960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1A1A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属性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1A1A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含义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cudaDeviceProp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查看设备约束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maxGridSize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Grid 各维度最大 Block 数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maxThreadsDim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Block 各维度最大线程数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maxThreadsPerBlock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一个 Block 总线程上限</a:t>
                      </a:r>
                      <a:endParaRPr lang="en-US" sz="2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249680" y="660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版本信息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49680" y="7366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nvcc --version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：当前编译工具链版本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nvidia-smi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：驱动和运行环境信息（不是 nvcc 版本）</a:t>
            </a:r>
            <a:endParaRPr lang="en-US" sz="2930" dirty="0"/>
          </a:p>
        </p:txBody>
      </p:sp>
      <p:sp>
        <p:nvSpPr>
          <p:cNvPr id="8" name="Text 5"/>
          <p:cNvSpPr/>
          <p:nvPr/>
        </p:nvSpPr>
        <p:spPr>
          <a:xfrm>
            <a:off x="12446000" y="228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F81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调试入口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446000" y="3048000"/>
            <a:ext cx="1066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b="1" dirty="0">
                <a:solidFill>
                  <a:srgbClr val="4F81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cuda-gdb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：CUDA 程序调试工具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-g：生成 Host 端调试信息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 -G：生成 Device 端调试信息</a:t>
            </a:r>
            <a:endParaRPr lang="en-US" sz="2930" dirty="0"/>
          </a:p>
        </p:txBody>
      </p:sp>
      <p:sp>
        <p:nvSpPr>
          <p:cNvPr id="10" name="Shape 7"/>
          <p:cNvSpPr/>
          <p:nvPr/>
        </p:nvSpPr>
        <p:spPr>
          <a:xfrm>
            <a:off x="12446000" y="5715000"/>
            <a:ext cx="10668000" cy="3175000"/>
          </a:xfrm>
          <a:prstGeom prst="rect">
            <a:avLst/>
          </a:prstGeom>
          <a:solidFill>
            <a:srgbClr val="2A3A42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25400" y="5969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问题式收束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725400" y="6731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现在程序已经能跑、能看、能比</a:t>
            </a:r>
            <a:endParaRPr lang="en-US" sz="293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但还能不能</a:t>
            </a:r>
            <a:pPr>
              <a:lnSpc>
                <a:spcPct val="100000"/>
              </a:lnSpc>
              <a:spcBef>
                <a:spcPts val="800"/>
              </a:spcBef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继续优化</a:t>
            </a:r>
            <a:pPr>
              <a:lnSpc>
                <a:spcPct val="100000"/>
              </a:lnSpc>
              <a:spcBef>
                <a:spcPts val="800"/>
              </a:spcBef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？</a:t>
            </a:r>
            <a:endParaRPr lang="en-US" sz="2930" dirty="0"/>
          </a:p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哪些地方还有</a:t>
            </a:r>
            <a:pPr>
              <a:lnSpc>
                <a:spcPct val="100000"/>
              </a:lnSpc>
            </a:pPr>
            <a:r>
              <a:rPr lang="en-US" sz="293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空间</a:t>
            </a:r>
            <a:pPr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？</a:t>
            </a:r>
            <a:endParaRPr lang="en-US" sz="2930" dirty="0"/>
          </a:p>
        </p:txBody>
      </p:sp>
      <p:sp>
        <p:nvSpPr>
          <p:cNvPr id="13" name="Text 10"/>
          <p:cNvSpPr/>
          <p:nvPr/>
        </p:nvSpPr>
        <p:spPr>
          <a:xfrm>
            <a:off x="22860000" y="12954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600" dirty="0"/>
          </a:p>
        </p:txBody>
      </p:sp>
      <p:pic>
        <p:nvPicPr>
          <p:cNvPr id="14" name="Image 0" descr="https://kimi-img.moonshot.cn/pub/slides/26-05-29-16:22:07-d8ckpbpn4ejr6ptg7pj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497" y="8801100"/>
            <a:ext cx="8623300" cy="44069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3810000"/>
            <a:ext cx="1778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第二节结束</a:t>
            </a:r>
            <a:endParaRPr lang="en-US" sz="9870" dirty="0"/>
          </a:p>
        </p:txBody>
      </p:sp>
      <p:sp>
        <p:nvSpPr>
          <p:cNvPr id="3" name="Shape 1"/>
          <p:cNvSpPr/>
          <p:nvPr/>
        </p:nvSpPr>
        <p:spPr>
          <a:xfrm>
            <a:off x="1249680" y="7112000"/>
            <a:ext cx="2540000" cy="762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7620000"/>
            <a:ext cx="152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还能怎么继续优化？</a:t>
            </a:r>
            <a:endParaRPr lang="en-US" sz="3730" dirty="0"/>
          </a:p>
        </p:txBody>
      </p:sp>
      <p:sp>
        <p:nvSpPr>
          <p:cNvPr id="5" name="Text 3"/>
          <p:cNvSpPr/>
          <p:nvPr/>
        </p:nvSpPr>
        <p:spPr>
          <a:xfrm>
            <a:off x="1249680" y="9144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下节课继续 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590000" y="3175000"/>
            <a:ext cx="1270000" cy="1270000"/>
          </a:xfrm>
          <a:prstGeom prst="ellipse">
            <a:avLst/>
          </a:prstGeom>
          <a:solidFill>
            <a:srgbClr val="7EC0DA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955000" y="5080000"/>
            <a:ext cx="762000" cy="762000"/>
          </a:xfrm>
          <a:prstGeom prst="ellipse">
            <a:avLst/>
          </a:prstGeom>
          <a:solidFill>
            <a:srgbClr val="7EC0DA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225000" y="6350000"/>
            <a:ext cx="508000" cy="508000"/>
          </a:xfrm>
          <a:prstGeom prst="ellipse">
            <a:avLst/>
          </a:prstGeom>
          <a:solidFill>
            <a:srgbClr val="7EC0DA">
              <a:alpha val="35000"/>
            </a:srgbClr>
          </a:solidFill>
          <a:ln/>
        </p:spPr>
      </p:sp>
      <p:pic>
        <p:nvPicPr>
          <p:cNvPr id="9" name="Image 0" descr="https://kimi-img.moonshot.cn/pub/slides/26-05-29-16:22:40-d8ckpk5qip66o66g2p7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609" y="2651396"/>
            <a:ext cx="13836650" cy="739720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CUDA编程入门 · 第二节</dc:title>
  <dc:subject>CUDA编程入门 · 第二节</dc:subject>
  <dc:creator>Kimi</dc:creator>
  <cp:lastModifiedBy>Kimi</cp:lastModifiedBy>
  <cp:revision>1</cp:revision>
  <dcterms:created xsi:type="dcterms:W3CDTF">2026-05-29T08:42:16Z</dcterms:created>
  <dcterms:modified xsi:type="dcterms:W3CDTF">2026-05-29T08:42:16Z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{"Label":"CUDA编程入门 · 第二节","ContentProducer":"001191110108MACG2KBH8F10000","ProduceID":"19e72b53-68c2-8602-8000-0000e062cc00","ReservedCode1":"","ContentPropagator":"001191110108MACG2KBH8F20000","PropagateID":"19e72b53-68c2-8602-8000-0000e062cc00","ReservedCode2":""}</vt:lpwstr>
  </property>
</Properties>
</file>